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4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01</a:t>
            </a:r>
          </a:p>
        </p:txBody>
      </p:sp>
      <p:pic>
        <p:nvPicPr>
          <p:cNvPr id="18" name="Picture 17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207" y="502920"/>
            <a:ext cx="1023178" cy="1097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" y="182880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E8ECE9"/>
                </a:solidFill>
              </a:defRPr>
            </a:pPr>
            <a:r>
              <a:t>Turning stories into</a:t>
            </a:r>
            <a:br/>
            <a:r>
              <a:t>published books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E0BC3A"/>
                </a:solidFill>
              </a:defRPr>
            </a:pPr>
            <a:r>
              <a:t>Live at ndotonic.com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INSPIRATION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8ECE9"/>
                </a:solidFill>
              </a:defRPr>
            </a:pPr>
            <a:r>
              <a:t>Lack of funding, exposure, and editorial gates</a:t>
            </a:r>
            <a:br/>
            <a:r>
              <a:t>keep impactful stories uncovered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1874519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AA8A0"/>
                </a:solidFill>
              </a:defRPr>
            </a:pPr>
            <a:r>
              <a:t>Before transitioning into tech, independent authors kept telling us the same thing: to ship one book they had to stitch together a dozen tools.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514600"/>
            <a:ext cx="10881360" cy="141732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267004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0BC3A"/>
                </a:solidFill>
              </a:defRPr>
            </a:pPr>
            <a:r>
              <a:t>Funding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5768" y="267004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A8A0"/>
                </a:solidFill>
              </a:defRPr>
            </a:pPr>
            <a:r>
              <a:t>One site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290779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0BC3A"/>
                </a:solidFill>
              </a:defRPr>
            </a:pPr>
            <a:r>
              <a:t>Writing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5768" y="290779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A8A0"/>
                </a:solidFill>
              </a:defRPr>
            </a:pPr>
            <a:r>
              <a:t>Another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14553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0BC3A"/>
                </a:solidFill>
              </a:defRPr>
            </a:pPr>
            <a:r>
              <a:t>Publishing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3145536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A8A0"/>
                </a:solidFill>
              </a:defRPr>
            </a:pPr>
            <a:r>
              <a:t>Elsewhere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3832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0BC3A"/>
                </a:solidFill>
              </a:defRPr>
            </a:pPr>
            <a:r>
              <a:t>Audiobooks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15768" y="33832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A8A0"/>
                </a:solidFill>
              </a:defRPr>
            </a:pPr>
            <a:r>
              <a:t>A fourth 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362102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0BC3A"/>
                </a:solidFill>
              </a:defRPr>
            </a:pPr>
            <a:r>
              <a:t>Promotion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362102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A8A0"/>
                </a:solidFill>
              </a:defRPr>
            </a:pPr>
            <a:r>
              <a:t>Algorithms and editorial gates they did not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0690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E8ECE9"/>
                </a:solidFill>
              </a:defRPr>
            </a:pPr>
            <a:r>
              <a:t>Especially where published books in local languages are hard to find, fund, and distribute, even though storytelling is already part of everyday life.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6634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A8A0"/>
                </a:solidFill>
              </a:defRPr>
            </a:pPr>
            <a:r>
              <a:t>We built Ndotonic to democratize knowledge sharing through real-life stories: patron support, AI editing in the writing flow, ebook and AI-narrated audiobook from one title, and owned promotion through GLC Media radio and TV.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5321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0BC3A"/>
                </a:solidFill>
              </a:defRPr>
            </a:pPr>
            <a:r>
              <a:t>The vision: turn stories into published books.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WHAT IT DOES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CE9"/>
                </a:solidFill>
              </a:defRPr>
            </a:pPr>
            <a:r>
              <a:t>First pitch to paying reader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17830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0BC3A"/>
                </a:solidFill>
              </a:defRPr>
            </a:pPr>
            <a:r>
              <a:t>Pitch → Fund → Write → Publish → GLC Media → Monetize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286000"/>
            <a:ext cx="5257800" cy="1417320"/>
          </a:xfrm>
          <a:prstGeom prst="roundRect">
            <a:avLst/>
          </a:prstGeom>
          <a:solidFill>
            <a:srgbClr val="0A0D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242316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0BC3A"/>
                </a:solidFill>
              </a:defRPr>
            </a:pPr>
            <a: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274320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8ECE9"/>
                </a:solidFill>
              </a:defRPr>
            </a:pPr>
            <a:r>
              <a:t>Get Discovered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324612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AA8A0"/>
                </a:solidFill>
              </a:defRPr>
            </a:pPr>
            <a:r>
              <a:t>Patron book-funding campaigns from a story pitch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286000"/>
            <a:ext cx="5257800" cy="1417320"/>
          </a:xfrm>
          <a:prstGeom prst="roundRect">
            <a:avLst/>
          </a:prstGeom>
          <a:solidFill>
            <a:srgbClr val="0A0D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42316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0BC3A"/>
                </a:solidFill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274320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8ECE9"/>
                </a:solidFill>
              </a:defRPr>
            </a:pPr>
            <a:r>
              <a:t>Promote your book 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324612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AA8A0"/>
                </a:solidFill>
              </a:defRPr>
            </a:pPr>
            <a:r>
              <a:t>GLC Media radio and TV stream authors' stories and books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886200"/>
            <a:ext cx="5257800" cy="1417320"/>
          </a:xfrm>
          <a:prstGeom prst="roundRect">
            <a:avLst/>
          </a:prstGeom>
          <a:solidFill>
            <a:srgbClr val="0A0D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402336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0BC3A"/>
                </a:solidFill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434340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8ECE9"/>
                </a:solidFill>
              </a:defRPr>
            </a:pPr>
            <a:r>
              <a:t>Self publish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" y="484632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AA8A0"/>
                </a:solidFill>
              </a:defRPr>
            </a:pPr>
            <a:r>
              <a:t>Ink Studio, six AI editing modes, ISBN, ebook · print · audiobook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886200"/>
            <a:ext cx="5257800" cy="1417320"/>
          </a:xfrm>
          <a:prstGeom prst="roundRect">
            <a:avLst/>
          </a:prstGeom>
          <a:solidFill>
            <a:srgbClr val="0A0D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8" y="402336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E0BC3A"/>
                </a:solidFill>
              </a:defRPr>
            </a:pPr>
            <a: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434340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8ECE9"/>
                </a:solidFill>
              </a:defRPr>
            </a:pPr>
            <a:r>
              <a:t>Monetize your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484632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AA8A0"/>
                </a:solidFill>
              </a:defRPr>
            </a:pPr>
            <a:r>
              <a:t>Marketplace: digital editions, audiobooks, worldwide print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48640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E8ECE9"/>
                </a:solidFill>
              </a:defRPr>
            </a:pPr>
            <a:r>
              <a:t>Six surfaces, one workflow: Ink Studio · Publishing · Audiobook · Marketplace · Campaigns · GLC Media (Icecast radio, HLS TV, broadcast promotion)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WHAT IT DOES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CE9"/>
                </a:solidFill>
              </a:defRPr>
            </a:pPr>
            <a:r>
              <a:t>Gemini inside the author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874519"/>
            <a:ext cx="10881360" cy="201168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214884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E8ECE9"/>
                </a:solidFill>
              </a:defRPr>
            </a:pPr>
            <a:r>
              <a:t>Ndotonic uses Gemini to elevate manuscripts before books go live: grammar, craft review, covers, narration suggestions, and trust checks at publish time, with the author in control.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160520"/>
            <a:ext cx="3401568" cy="1600200"/>
          </a:xfrm>
          <a:prstGeom prst="roundRect">
            <a:avLst/>
          </a:prstGeom>
          <a:solidFill>
            <a:srgbClr val="0A0E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389120"/>
            <a:ext cx="3035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0BC3A"/>
                </a:solidFill>
              </a:defRPr>
            </a:pPr>
            <a:r>
              <a:t>Ink Studio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846320"/>
            <a:ext cx="30358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A8A0"/>
                </a:solidFill>
              </a:defRPr>
            </a:pPr>
            <a:r>
              <a:t>Six AI editing modes · collaborators · version history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4160520"/>
            <a:ext cx="3401568" cy="1600200"/>
          </a:xfrm>
          <a:prstGeom prst="roundRect">
            <a:avLst/>
          </a:prstGeom>
          <a:solidFill>
            <a:srgbClr val="0A0E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4389120"/>
            <a:ext cx="3035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0BC3A"/>
                </a:solidFill>
              </a:defRPr>
            </a:pPr>
            <a:r>
              <a:t>Publishing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4846320"/>
            <a:ext cx="30358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A8A0"/>
                </a:solidFill>
              </a:defRPr>
            </a:pPr>
            <a:r>
              <a:t>Covers · ISBN · ebook · print · audiobook formats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160520"/>
            <a:ext cx="3401568" cy="1600200"/>
          </a:xfrm>
          <a:prstGeom prst="roundRect">
            <a:avLst/>
          </a:prstGeom>
          <a:solidFill>
            <a:srgbClr val="0A0E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389120"/>
            <a:ext cx="30358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0BC3A"/>
                </a:solidFill>
              </a:defRPr>
            </a:pPr>
            <a:r>
              <a:t>GLC Media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46320"/>
            <a:ext cx="303580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A8A0"/>
                </a:solidFill>
              </a:defRPr>
            </a:pPr>
            <a:r>
              <a:t>Content hub · podcasts · live radio and TV promotion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CHALLENGES WE RAN INTO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E8ECE9"/>
                </a:solidFill>
              </a:defRPr>
            </a:pPr>
            <a:r>
              <a:t>Four fights to ship live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828800"/>
            <a:ext cx="10881360" cy="3977639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199339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0BC3A"/>
                </a:solidFill>
              </a:defRPr>
            </a:pPr>
            <a:r>
              <a:t>1. GLC radio and TV on a modern web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340864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A8A0"/>
                </a:solidFill>
              </a:defRPr>
            </a:pPr>
            <a:r>
              <a:t>ADK agents, Gemini, Cloud TTS, and audio assembly alongside Icecast for live radio and HLS for live TV, wired through Docker Compose and nginx.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92608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0BC3A"/>
                </a:solidFill>
              </a:defRPr>
            </a:pPr>
            <a:r>
              <a:t>2. Docker Compose vs serverless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273552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A8A0"/>
                </a:solidFill>
              </a:defRPr>
            </a:pPr>
            <a:r>
              <a:t>Interdependent services need one compose graph. Docker Compose on a GCP VM kept them starting, talking, and recovering together.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85876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0BC3A"/>
                </a:solidFill>
              </a:defRPr>
            </a:pPr>
            <a:r>
              <a:t>3. Solopreneurship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20624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A8A0"/>
                </a:solidFill>
              </a:defRPr>
            </a:pPr>
            <a:r>
              <a:t>Product, infrastructure, AI integration, deploys, business registration, marketing, and hackathon materials on one person.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791456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0BC3A"/>
                </a:solidFill>
              </a:defRPr>
            </a:pPr>
            <a:r>
              <a:t>4. Trust and compliance at publish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138928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9AA8A0"/>
                </a:solidFill>
              </a:defRPr>
            </a:pPr>
            <a:r>
              <a:t>Rights warranty, takedown consent, and AI attestation while policy catches 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WHAT WE ARE PROUD 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8ECE9"/>
                </a:solidFill>
              </a:defRPr>
            </a:pPr>
            <a:r>
              <a:t>Putting it all together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874519"/>
            <a:ext cx="10881360" cy="214884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E0B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2103120"/>
            <a:ext cx="1042416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E8ECE9"/>
                </a:solidFill>
              </a:defRPr>
            </a:pPr>
            <a:r>
              <a:t>Ndotonic is live at ndotonic.com, not a prototype. Ink Studio, patron campaigns, marketplace, six-mode AI editing, audiobook studio, Stripe payouts, publishing pipeline, analytics, and GLC radio/TV promotion work as one author story.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25196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AA8A0"/>
                </a:solidFill>
              </a:defRPr>
            </a:pPr>
            <a:r>
              <a:t>We turned what authors told us into product. AI lives inside the author workflow where craft, production, and trust decisions actually happen.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07492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0BC3A"/>
                </a:solidFill>
              </a:defRPr>
            </a:pPr>
            <a:r>
              <a:t>Mission: Uncover hidden potential and amplify unheard voices.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LESSONS LEARNT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E8ECE9"/>
                </a:solidFill>
              </a:defRPr>
            </a:pPr>
            <a:r>
              <a:t>What building taught 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19202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300">
                <a:solidFill>
                  <a:srgbClr val="E8ECE9"/>
                </a:solidFill>
              </a:defRPr>
            </a:pPr>
            <a:r>
              <a:t>◆ Orchestrating production agents (Gemini, ADK) takes detailed task descriptions and multi-turn testing to evaluate consistency before anything ships.</a:t>
            </a:r>
          </a:p>
          <a:p>
            <a:pPr>
              <a:spcAft>
                <a:spcPts val="1800"/>
              </a:spcAft>
              <a:defRPr sz="1300">
                <a:solidFill>
                  <a:srgbClr val="E8ECE9"/>
                </a:solidFill>
              </a:defRPr>
            </a:pPr>
            <a:r>
              <a:t>◆ Building solo means owning product, infra, AI, compliance, and go-to-market at once, and shipping what validates the full journey first.</a:t>
            </a:r>
          </a:p>
          <a:p>
            <a:pPr>
              <a:spcAft>
                <a:spcPts val="1800"/>
              </a:spcAft>
              <a:defRPr sz="1300">
                <a:solidFill>
                  <a:srgbClr val="E8ECE9"/>
                </a:solidFill>
              </a:defRPr>
            </a:pPr>
            <a:r>
              <a:t>◆ Every great platform starts with an idea, then turning it into something real; winning your first users is the steepest climb, and where the story begins to matter.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E8ECE9"/>
                </a:solidFill>
              </a:defRPr>
            </a:pPr>
            <a:r>
              <a:t>Three-year roadmap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148840"/>
            <a:ext cx="3401568" cy="2194560"/>
          </a:xfrm>
          <a:prstGeom prst="roundRect">
            <a:avLst/>
          </a:prstGeom>
          <a:solidFill>
            <a:srgbClr val="0A0E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2423160"/>
            <a:ext cx="30358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0BC3A"/>
                </a:solidFill>
              </a:defRPr>
            </a:pPr>
            <a:r>
              <a:t>Year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2971800"/>
            <a:ext cx="303580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8ECE9"/>
                </a:solidFill>
              </a:defRPr>
            </a:pPr>
            <a:r>
              <a:t>Author acquisition · campaign GMV · workflow validation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8264" y="2148840"/>
            <a:ext cx="3401568" cy="2194560"/>
          </a:xfrm>
          <a:prstGeom prst="roundRect">
            <a:avLst/>
          </a:prstGeom>
          <a:solidFill>
            <a:srgbClr val="0A0E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423160"/>
            <a:ext cx="30358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0BC3A"/>
                </a:solidFill>
              </a:defRPr>
            </a:pPr>
            <a:r>
              <a:t>Year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2971800"/>
            <a:ext cx="303580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8ECE9"/>
                </a:solidFill>
              </a:defRPr>
            </a:pPr>
            <a:r>
              <a:t>GLC Media content · audio and print scale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2148840"/>
            <a:ext cx="3401568" cy="2194560"/>
          </a:xfrm>
          <a:prstGeom prst="roundRect">
            <a:avLst/>
          </a:prstGeom>
          <a:solidFill>
            <a:srgbClr val="0A0E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423160"/>
            <a:ext cx="303580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0BC3A"/>
                </a:solidFill>
              </a:defRPr>
            </a:pPr>
            <a:r>
              <a:t>Year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971800"/>
            <a:ext cx="303580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8ECE9"/>
                </a:solidFill>
              </a:defRPr>
            </a:pPr>
            <a:r>
              <a:t>Rights and adaptation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BUILT WITH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8ECE9"/>
                </a:solidFill>
              </a:defRPr>
            </a:pPr>
            <a:r>
              <a:t>Stack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874519"/>
            <a:ext cx="10881360" cy="749808"/>
          </a:xfrm>
          <a:prstGeom prst="roundRect">
            <a:avLst/>
          </a:prstGeom>
          <a:solidFill>
            <a:srgbClr val="101210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2075687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E8ECE9"/>
                </a:solidFill>
              </a:defRPr>
            </a:pPr>
            <a:r>
              <a:t>Python · Flask · PostgreSQL · Docker · GitHub Actions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770631"/>
            <a:ext cx="10881360" cy="749808"/>
          </a:xfrm>
          <a:prstGeom prst="roundRect">
            <a:avLst/>
          </a:prstGeom>
          <a:solidFill>
            <a:srgbClr val="101210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297179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E8ECE9"/>
                </a:solidFill>
              </a:defRPr>
            </a:pPr>
            <a:r>
              <a:t>GCP: Compute Engine · VPC · Cloud DNS · IAM · Cloud Text-to-Speech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666743"/>
            <a:ext cx="10881360" cy="749808"/>
          </a:xfrm>
          <a:prstGeom prst="roundRect">
            <a:avLst/>
          </a:prstGeom>
          <a:solidFill>
            <a:srgbClr val="101210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3867911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E8ECE9"/>
                </a:solidFill>
              </a:defRPr>
            </a:pPr>
            <a:r>
              <a:t>Gemini API · Google ADK · google.generativeai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562855"/>
            <a:ext cx="10881360" cy="749808"/>
          </a:xfrm>
          <a:prstGeom prst="roundRect">
            <a:avLst/>
          </a:prstGeom>
          <a:solidFill>
            <a:srgbClr val="101210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4764023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E8ECE9"/>
                </a:solidFill>
              </a:defRPr>
            </a:pPr>
            <a:r>
              <a:t>Icecast · Liquidsoap · Stripe · Flask-SocketIO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458967"/>
            <a:ext cx="10881360" cy="749808"/>
          </a:xfrm>
          <a:prstGeom prst="roundRect">
            <a:avLst/>
          </a:prstGeom>
          <a:solidFill>
            <a:srgbClr val="101210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" y="5660135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E8ECE9"/>
                </a:solidFill>
              </a:defRPr>
            </a:pPr>
            <a:r>
              <a:t>AI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