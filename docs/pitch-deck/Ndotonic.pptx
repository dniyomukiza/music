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4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dotonic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419088"/>
            <a:ext cx="23874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ndotonic.com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101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89120" y="731520"/>
            <a:ext cx="3474720" cy="3474720"/>
          </a:xfrm>
          <a:prstGeom prst="ellipse">
            <a:avLst/>
          </a:prstGeom>
          <a:solidFill>
            <a:srgbClr val="2018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ndotonic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627" y="502920"/>
            <a:ext cx="1151075" cy="12344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1965960"/>
            <a:ext cx="10972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E8ECE9"/>
                </a:solidFill>
              </a:defRPr>
            </a:pPr>
            <a:r>
              <a:t>Turning stories into</a:t>
            </a:r>
            <a:br/>
            <a:r>
              <a:t>published books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0">
                <a:solidFill>
                  <a:srgbClr val="9AA8A0"/>
                </a:solidFill>
              </a:defRPr>
            </a:pPr>
            <a:r>
              <a:t>Ndotonic builds the AI native author platform, live at ndotonic.com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C9A227"/>
                </a:solidFill>
              </a:defRPr>
            </a:pPr>
            <a:r>
              <a:t>INVESTOR &amp; PARTNER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dotonic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419088"/>
            <a:ext cx="23874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ndotonic.com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THE 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E8ECE9"/>
                </a:solidFill>
              </a:defRPr>
            </a:pPr>
            <a:r>
              <a:t>Lack of funding, exposure, and editorial gates</a:t>
            </a:r>
            <a:br/>
            <a:r>
              <a:t>keep impactful stories uncovered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14884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AA8A0"/>
                </a:solidFill>
              </a:defRPr>
            </a:pPr>
            <a:r>
              <a:t>Our founder saw this as a journalist: authors still stitch a dozen tools across platforms, with funding, writing, publishing, and promotion on separate sites.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788920"/>
            <a:ext cx="10881360" cy="324612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68680" y="2971800"/>
          <a:ext cx="10469880" cy="3639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7863840"/>
              </a:tblGrid>
              <a:tr h="438912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E0BC3A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 anchor="ctr" marL="152400" marR="152400" marT="101600" marB="101600">
                    <a:solidFill>
                      <a:srgbClr val="1417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E0BC3A"/>
                          </a:solidFill>
                        </a:defRPr>
                      </a:pPr>
                      <a:r>
                        <a:t>Pain</a:t>
                      </a:r>
                    </a:p>
                  </a:txBody>
                  <a:tcPr anchor="ctr" marL="152400" marR="152400" marT="101600" marB="101600">
                    <a:solidFill>
                      <a:srgbClr val="14171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E0BC3A"/>
                          </a:solidFill>
                        </a:defRPr>
                      </a:pPr>
                      <a:r>
                        <a:t>Discovery &amp; funding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E8ECE9"/>
                          </a:solidFill>
                        </a:defRPr>
                      </a:pPr>
                      <a:r>
                        <a:t>Campaigns on one platform, pitches on another → Funding campaigns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E0BC3A"/>
                          </a:solidFill>
                        </a:defRPr>
                      </a:pPr>
                      <a:r>
                        <a:t>Writing &amp; editing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E8ECE9"/>
                          </a:solidFill>
                        </a:defRPr>
                      </a:pPr>
                      <a:r>
                        <a:t>Manuscript tools, AI, and human editors if necessary → Ink Studio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E0BC3A"/>
                          </a:solidFill>
                        </a:defRPr>
                      </a:pPr>
                      <a:r>
                        <a:t>Publishing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E8ECE9"/>
                          </a:solidFill>
                        </a:defRPr>
                      </a:pPr>
                      <a:r>
                        <a:t>ISBN, ebook, print, audiobook → Ink Studio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E0BC3A"/>
                          </a:solidFill>
                        </a:defRPr>
                      </a:pPr>
                      <a:r>
                        <a:t>Promotion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E8ECE9"/>
                          </a:solidFill>
                        </a:defRPr>
                      </a:pPr>
                      <a:r>
                        <a:t>Reaching your audience without owned broadcast → GLC Media (radio/TV)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E0BC3A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0">
                          <a:solidFill>
                            <a:srgbClr val="E8ECE9"/>
                          </a:solidFill>
                        </a:defRPr>
                      </a:pPr>
                      <a:r>
                        <a:t>Digital, audio, and print sales in separate channels → Marketplace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dotonic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419088"/>
            <a:ext cx="23874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ndotonic.com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OUR 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E8ECE9"/>
                </a:solidFill>
              </a:defRPr>
            </a:pPr>
            <a:r>
              <a:t>Ndotonic is the full author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1874519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AA8A0"/>
                </a:solidFill>
              </a:defRPr>
            </a:pPr>
            <a:r>
              <a:t>One company from first pitch to paying reader, with GLC Media built in to promote every story and book.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46120"/>
            <a:ext cx="1353312" cy="1417320"/>
          </a:xfrm>
          <a:prstGeom prst="roundRect">
            <a:avLst/>
          </a:prstGeom>
          <a:solidFill>
            <a:srgbClr val="0E1210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246120"/>
            <a:ext cx="1353312" cy="54864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447288"/>
            <a:ext cx="11338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0BC3A"/>
                </a:solidFill>
              </a:defRPr>
            </a:pPr>
            <a:r>
              <a:t>Pitch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3904488"/>
            <a:ext cx="11338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AA8A0"/>
                </a:solidFill>
              </a:defRPr>
            </a:pPr>
            <a:r>
              <a:t>Campaign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749040"/>
            <a:ext cx="1645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C9A227"/>
                </a:solidFill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76272" y="3246120"/>
            <a:ext cx="1353312" cy="1417320"/>
          </a:xfrm>
          <a:prstGeom prst="roundRect">
            <a:avLst/>
          </a:prstGeom>
          <a:solidFill>
            <a:srgbClr val="0E1210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76272" y="3246120"/>
            <a:ext cx="135331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0" y="3447288"/>
            <a:ext cx="11338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0BC3A"/>
                </a:solidFill>
              </a:defRPr>
            </a:pPr>
            <a:r>
              <a:t>Fund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3904488"/>
            <a:ext cx="11338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AA8A0"/>
                </a:solidFill>
              </a:defRPr>
            </a:pPr>
            <a:r>
              <a:t>Patrons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9584" y="3749040"/>
            <a:ext cx="1645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C9A227"/>
                </a:solidFill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94176" y="3246120"/>
            <a:ext cx="1353312" cy="1417320"/>
          </a:xfrm>
          <a:prstGeom prst="roundRect">
            <a:avLst/>
          </a:prstGeom>
          <a:solidFill>
            <a:srgbClr val="0E1210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94176" y="3246120"/>
            <a:ext cx="135331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03904" y="3447288"/>
            <a:ext cx="11338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0BC3A"/>
                </a:solidFill>
              </a:defRPr>
            </a:pPr>
            <a:r>
              <a:t>Write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03904" y="3904488"/>
            <a:ext cx="11338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AA8A0"/>
                </a:solidFill>
              </a:defRPr>
            </a:pPr>
            <a:r>
              <a:t>Ink Studio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3749040"/>
            <a:ext cx="1645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C9A227"/>
                </a:solidFill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12080" y="3246120"/>
            <a:ext cx="1353312" cy="1417320"/>
          </a:xfrm>
          <a:prstGeom prst="roundRect">
            <a:avLst/>
          </a:prstGeom>
          <a:solidFill>
            <a:srgbClr val="0E1210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212080" y="3246120"/>
            <a:ext cx="1353312" cy="54864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21808" y="3447288"/>
            <a:ext cx="11338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0BC3A"/>
                </a:solidFill>
              </a:defRPr>
            </a:pPr>
            <a:r>
              <a:t>Edit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1808" y="3904488"/>
            <a:ext cx="11338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AA8A0"/>
                </a:solidFill>
              </a:defRPr>
            </a:pPr>
            <a:r>
              <a:t>AI craft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3749040"/>
            <a:ext cx="1645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C9A227"/>
                </a:solidFill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29984" y="3246120"/>
            <a:ext cx="1353312" cy="1417320"/>
          </a:xfrm>
          <a:prstGeom prst="roundRect">
            <a:avLst/>
          </a:prstGeom>
          <a:solidFill>
            <a:srgbClr val="0E1210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729984" y="3246120"/>
            <a:ext cx="135331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9712" y="3447288"/>
            <a:ext cx="11338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0BC3A"/>
                </a:solidFill>
              </a:defRPr>
            </a:pPr>
            <a:r>
              <a:t>Publish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712" y="3904488"/>
            <a:ext cx="11338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AA8A0"/>
                </a:solidFill>
              </a:defRPr>
            </a:pPr>
            <a:r>
              <a:t>All formats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83296" y="3749040"/>
            <a:ext cx="1645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C9A227"/>
                </a:solidFill>
              </a:defRPr>
            </a:pPr>
            <a: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47888" y="3246120"/>
            <a:ext cx="1353312" cy="1417320"/>
          </a:xfrm>
          <a:prstGeom prst="roundRect">
            <a:avLst/>
          </a:prstGeom>
          <a:solidFill>
            <a:srgbClr val="0E1210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47888" y="3246120"/>
            <a:ext cx="135331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57616" y="3447288"/>
            <a:ext cx="11338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0BC3A"/>
                </a:solidFill>
              </a:defRPr>
            </a:pPr>
            <a:r>
              <a:t>GLC Media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57616" y="3904488"/>
            <a:ext cx="11338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AA8A0"/>
                </a:solidFill>
              </a:defRPr>
            </a:pPr>
            <a:r>
              <a:t>Radio &amp; TV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3749040"/>
            <a:ext cx="1645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C9A227"/>
                </a:solidFill>
              </a:defRPr>
            </a:pPr>
            <a: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765792" y="3246120"/>
            <a:ext cx="1353312" cy="1417320"/>
          </a:xfrm>
          <a:prstGeom prst="roundRect">
            <a:avLst/>
          </a:prstGeom>
          <a:solidFill>
            <a:srgbClr val="0E1210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765792" y="3246120"/>
            <a:ext cx="1353312" cy="54864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75520" y="3447288"/>
            <a:ext cx="11338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E0BC3A"/>
                </a:solidFill>
              </a:defRPr>
            </a:pPr>
            <a:r>
              <a:t>Monetize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0" y="3904488"/>
            <a:ext cx="11338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AA8A0"/>
                </a:solidFill>
              </a:defRPr>
            </a:pPr>
            <a:r>
              <a:t>Marketplace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dotonic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419088"/>
            <a:ext cx="23874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ndotonic.com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PRODUCT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E8ECE9"/>
                </a:solidFill>
              </a:defRPr>
            </a:pPr>
            <a:r>
              <a:t>Why Ndotonic: four pillars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965960"/>
            <a:ext cx="5257800" cy="1965960"/>
          </a:xfrm>
          <a:prstGeom prst="roundRect">
            <a:avLst/>
          </a:prstGeom>
          <a:solidFill>
            <a:srgbClr val="0A0D0B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965960"/>
            <a:ext cx="73152" cy="1965960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1305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E0BC3A"/>
                </a:solidFill>
              </a:defRPr>
            </a:pPr>
            <a: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532888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8ECE9"/>
                </a:solidFill>
              </a:defRPr>
            </a:pPr>
            <a:r>
              <a:t>Get Discovered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017520"/>
            <a:ext cx="4846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AA8A0"/>
                </a:solidFill>
              </a:defRPr>
            </a:pPr>
            <a:r>
              <a:t>Upload a pitch and launch patron book funding campaigns.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1965960"/>
            <a:ext cx="5257800" cy="1965960"/>
          </a:xfrm>
          <a:prstGeom prst="roundRect">
            <a:avLst/>
          </a:prstGeom>
          <a:solidFill>
            <a:srgbClr val="0A0D0B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1965960"/>
            <a:ext cx="73152" cy="19659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213055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C9A227"/>
                </a:solidFill>
              </a:defRPr>
            </a:pPr>
            <a: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2532888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8ECE9"/>
                </a:solidFill>
              </a:defRPr>
            </a:pPr>
            <a:r>
              <a:t>Promote your book 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AA8A0"/>
                </a:solidFill>
              </a:defRPr>
            </a:pPr>
            <a:r>
              <a:t>GLC Media radio &amp; TV stream promoting stories and books.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160520"/>
            <a:ext cx="5257800" cy="1965960"/>
          </a:xfrm>
          <a:prstGeom prst="roundRect">
            <a:avLst/>
          </a:prstGeom>
          <a:solidFill>
            <a:srgbClr val="0A0D0B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160520"/>
            <a:ext cx="73152" cy="1965960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32511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E0BC3A"/>
                </a:solidFill>
              </a:defRPr>
            </a:pPr>
            <a: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727448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8ECE9"/>
                </a:solidFill>
              </a:defRPr>
            </a:pPr>
            <a:r>
              <a:t>Self publish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212080"/>
            <a:ext cx="4846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AA8A0"/>
                </a:solidFill>
              </a:defRPr>
            </a:pPr>
            <a:r>
              <a:t>Ink Studio, AI editing, ISBN, ebook · print · AI-narrated audiobook.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160520"/>
            <a:ext cx="5257800" cy="1965960"/>
          </a:xfrm>
          <a:prstGeom prst="roundRect">
            <a:avLst/>
          </a:prstGeom>
          <a:solidFill>
            <a:srgbClr val="0A0D0B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4160520"/>
            <a:ext cx="73152" cy="19659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9672" y="432511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C9A227"/>
                </a:solidFill>
              </a:defRPr>
            </a:pPr>
            <a: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9672" y="4727448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8ECE9"/>
                </a:solidFill>
              </a:defRPr>
            </a:pPr>
            <a:r>
              <a:t>Monetize your 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9672" y="5212080"/>
            <a:ext cx="4846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AA8A0"/>
                </a:solidFill>
              </a:defRPr>
            </a:pPr>
            <a:r>
              <a:t>Marketplace digital, audio, and print worldwide.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dotonic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419088"/>
            <a:ext cx="23874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ndotonic.com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DIFFERENTIATOR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E8ECE9"/>
                </a:solidFill>
              </a:defRPr>
            </a:pPr>
            <a:r>
              <a:t>AI native author editing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17830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AA8A0"/>
                </a:solidFill>
              </a:defRPr>
            </a:pPr>
            <a:r>
              <a:t>Purpose built inside Ink Studio, not generic chat.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606040"/>
            <a:ext cx="3401568" cy="3063240"/>
          </a:xfrm>
          <a:prstGeom prst="roundRect">
            <a:avLst/>
          </a:prstGeom>
          <a:solidFill>
            <a:srgbClr val="0A0E0B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2788920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C9A227"/>
                </a:solidFill>
              </a:defRPr>
            </a:pPr>
            <a: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291840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0BC3A"/>
                </a:solidFill>
              </a:defRPr>
            </a:pPr>
            <a:r>
              <a:t>Copy editing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840480"/>
            <a:ext cx="303580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E8ECE9"/>
                </a:solidFill>
              </a:defRPr>
            </a:pPr>
            <a:r>
              <a:t>Grammar &amp; punctuation</a:t>
            </a:r>
            <a:br/>
            <a:r>
              <a:t>Spelling</a:t>
            </a:r>
            <a:br/>
            <a:r>
              <a:t>Linguistic errors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98264" y="2606040"/>
            <a:ext cx="3401568" cy="3063240"/>
          </a:xfrm>
          <a:prstGeom prst="roundRect">
            <a:avLst/>
          </a:prstGeom>
          <a:solidFill>
            <a:srgbClr val="0A0E0B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4" y="2788920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C9A227"/>
                </a:solidFill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3291840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0BC3A"/>
                </a:solidFill>
              </a:defRPr>
            </a:pPr>
            <a:r>
              <a:t>Craft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6864" y="3840480"/>
            <a:ext cx="303580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E8ECE9"/>
                </a:solidFill>
              </a:defRPr>
            </a:pPr>
            <a:r>
              <a:t>Plot continuity</a:t>
            </a:r>
            <a:br/>
            <a:r>
              <a:t>Pacing &amp; tension</a:t>
            </a:r>
            <a:br/>
            <a:r>
              <a:t>Narrative style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2606040"/>
            <a:ext cx="3401568" cy="3063240"/>
          </a:xfrm>
          <a:prstGeom prst="roundRect">
            <a:avLst/>
          </a:prstGeom>
          <a:solidFill>
            <a:srgbClr val="0A0E0B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2788920"/>
            <a:ext cx="731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C9A227"/>
                </a:solidFill>
              </a:defRPr>
            </a:pPr>
            <a: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291840"/>
            <a:ext cx="30358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0BC3A"/>
                </a:solidFill>
              </a:defRPr>
            </a:pPr>
            <a:r>
              <a:t>Author workflow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840480"/>
            <a:ext cx="303580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E8ECE9"/>
                </a:solidFill>
              </a:defRPr>
            </a:pPr>
            <a:r>
              <a:t>Chapter editor + versions</a:t>
            </a:r>
            <a:br/>
            <a:r>
              <a:t>Collaborators &amp; beta readers</a:t>
            </a:r>
            <a:br/>
            <a:r>
              <a:t>Publishing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dotonic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419088"/>
            <a:ext cx="23874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ndotonic.com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MARKET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CE9"/>
                </a:solidFill>
              </a:defRPr>
            </a:pPr>
            <a:r>
              <a:t>A massive, fragmented creator economy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874519"/>
            <a:ext cx="3401568" cy="2148840"/>
          </a:xfrm>
          <a:prstGeom prst="roundRect">
            <a:avLst/>
          </a:prstGeom>
          <a:solidFill>
            <a:srgbClr val="0B0F0C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2194559"/>
            <a:ext cx="303580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E0BC3A"/>
                </a:solidFill>
              </a:defRPr>
            </a:pPr>
            <a:r>
              <a:t>$1.8B+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3017519"/>
            <a:ext cx="30358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AA8A0"/>
                </a:solidFill>
              </a:defRPr>
            </a:pPr>
            <a:r>
              <a:t>US self publishing market</a:t>
            </a:r>
            <a:br/>
            <a:r>
              <a:t>(~8% CAGR)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98264" y="1874519"/>
            <a:ext cx="3401568" cy="2148840"/>
          </a:xfrm>
          <a:prstGeom prst="roundRect">
            <a:avLst/>
          </a:prstGeom>
          <a:solidFill>
            <a:srgbClr val="0B0F0C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194559"/>
            <a:ext cx="303580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E0BC3A"/>
                </a:solidFill>
              </a:defRPr>
            </a:pPr>
            <a:r>
              <a:t>4M+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6864" y="3017519"/>
            <a:ext cx="30358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AA8A0"/>
                </a:solidFill>
              </a:defRPr>
            </a:pPr>
            <a:r>
              <a:t>New self published titles</a:t>
            </a:r>
            <a:br/>
            <a:r>
              <a:t>annually worldwide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1874519"/>
            <a:ext cx="3401568" cy="2148840"/>
          </a:xfrm>
          <a:prstGeom prst="roundRect">
            <a:avLst/>
          </a:prstGeom>
          <a:solidFill>
            <a:srgbClr val="0B0F0C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2194559"/>
            <a:ext cx="303580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E0BC3A"/>
                </a:solidFill>
              </a:defRPr>
            </a:pPr>
            <a:r>
              <a:t>AI shift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017519"/>
            <a:ext cx="303580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AA8A0"/>
                </a:solidFill>
              </a:defRPr>
            </a:pPr>
            <a:r>
              <a:t>Authors expect editing tools</a:t>
            </a:r>
            <a:br/>
            <a:r>
              <a:t>inside their publisher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343400"/>
            <a:ext cx="10881360" cy="123444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61772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E8ECE9"/>
                </a:solidFill>
              </a:defRPr>
            </a:pPr>
            <a:r>
              <a:t>Ndotonic targets authors, especially in high-bar languages and regions, who want discovery, craft tools, multi format publishing, and GLC Media without five vendors.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dotonic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419088"/>
            <a:ext cx="23874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ndotonic.com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BUSINESS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E8ECE9"/>
                </a:solidFill>
              </a:defRPr>
            </a:pPr>
            <a:r>
              <a:t>Revenue at every stage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874519"/>
            <a:ext cx="5257800" cy="160020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9536" y="2075687"/>
            <a:ext cx="502920" cy="50292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2130551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60807"/>
                </a:solidFill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7048" y="2075687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0BC3A"/>
                </a:solidFill>
              </a:defRPr>
            </a:pPr>
            <a:r>
              <a:t>Platform fees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2496311"/>
            <a:ext cx="4251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AA8A0"/>
                </a:solidFill>
              </a:defRPr>
            </a:pPr>
            <a:r>
              <a:t>Marketplace sales: ebook, audio, print, bundles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1874519"/>
            <a:ext cx="5257800" cy="160020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64808" y="2075687"/>
            <a:ext cx="502920" cy="50292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2130551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60807"/>
                </a:solidFill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075687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0BC3A"/>
                </a:solidFill>
              </a:defRPr>
            </a:pPr>
            <a:r>
              <a:t>Campaigns &amp; patronage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496311"/>
            <a:ext cx="4251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AA8A0"/>
                </a:solidFill>
              </a:defRPr>
            </a:pPr>
            <a:r>
              <a:t>Book funding and early supporter investment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749038"/>
            <a:ext cx="5257800" cy="160020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9536" y="3950206"/>
            <a:ext cx="502920" cy="50292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4005070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60807"/>
                </a:solidFill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7048" y="3950206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0BC3A"/>
                </a:solidFill>
              </a:defRPr>
            </a:pPr>
            <a:r>
              <a:t>Publishing services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7048" y="4370830"/>
            <a:ext cx="4251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AA8A0"/>
                </a:solidFill>
              </a:defRPr>
            </a:pPr>
            <a:r>
              <a:t>ISBN, print, AI audiobook, covers, listing tools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749038"/>
            <a:ext cx="5257800" cy="160020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64808" y="3950206"/>
            <a:ext cx="502920" cy="502920"/>
          </a:xfrm>
          <a:prstGeom prst="round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4005070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60807"/>
                </a:solidFill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950206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0BC3A"/>
                </a:solidFill>
              </a:defRPr>
            </a:pPr>
            <a:r>
              <a:t>GLC Media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370830"/>
            <a:ext cx="4251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9AA8A0"/>
                </a:solidFill>
              </a:defRPr>
            </a:pPr>
            <a:r>
              <a:t>Owned radio &amp; TV promoting stories and books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dotonic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419088"/>
            <a:ext cx="23874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ndotonic.com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E8ECE9"/>
                </a:solidFill>
              </a:defRPr>
            </a:pPr>
            <a:r>
              <a:t>Live at ndotonic.com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874519"/>
            <a:ext cx="5257800" cy="352044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1874519"/>
            <a:ext cx="5257800" cy="566928"/>
          </a:xfrm>
          <a:prstGeom prst="rect">
            <a:avLst/>
          </a:prstGeom>
          <a:solidFill>
            <a:srgbClr val="16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199339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0BC3A"/>
                </a:solidFill>
              </a:defRPr>
            </a:pPr>
            <a:r>
              <a:t>Shipped, not a prototype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269748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E8ECE9"/>
                </a:solidFill>
              </a:defRPr>
            </a:pPr>
            <a:r>
              <a:t>Ink Studio · Patron campaigns · Marketplace · Audiobook studio</a:t>
            </a:r>
          </a:p>
          <a:p>
            <a:pPr>
              <a:spcAft>
                <a:spcPts val="1200"/>
              </a:spcAft>
              <a:defRPr sz="1300">
                <a:solidFill>
                  <a:srgbClr val="E8ECE9"/>
                </a:solidFill>
              </a:defRPr>
            </a:pPr>
            <a:r>
              <a:t>AI editing (6 modes) · Stripe payouts · Publishing pipeline</a:t>
            </a:r>
          </a:p>
          <a:p>
            <a:pPr>
              <a:spcAft>
                <a:spcPts val="1200"/>
              </a:spcAft>
              <a:defRPr sz="1300">
                <a:solidFill>
                  <a:srgbClr val="E8ECE9"/>
                </a:solidFill>
              </a:defRPr>
            </a:pPr>
            <a:r>
              <a:t>Python/Flask · PostgreSQL · Gemini · Google Cloud TTS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874519"/>
            <a:ext cx="5257800" cy="352044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1874519"/>
            <a:ext cx="5257800" cy="566928"/>
          </a:xfrm>
          <a:prstGeom prst="rect">
            <a:avLst/>
          </a:prstGeom>
          <a:solidFill>
            <a:srgbClr val="16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199339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0BC3A"/>
                </a:solidFill>
              </a:defRPr>
            </a:pPr>
            <a:r>
              <a:t>Stage &amp; GLC Media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69748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E8ECE9"/>
                </a:solidFill>
              </a:defRPr>
            </a:pPr>
            <a:r>
              <a:t>Bootstrapped founder-built; testing workflow pre-scale</a:t>
            </a:r>
          </a:p>
          <a:p>
            <a:pPr>
              <a:spcAft>
                <a:spcPts val="1200"/>
              </a:spcAft>
              <a:defRPr sz="1300">
                <a:solidFill>
                  <a:srgbClr val="E8ECE9"/>
                </a:solidFill>
              </a:defRPr>
            </a:pPr>
            <a:r>
              <a:t>Radio &amp; TV stream · Content hub &amp; podcasts</a:t>
            </a:r>
          </a:p>
          <a:p>
            <a:pPr>
              <a:spcAft>
                <a:spcPts val="1200"/>
              </a:spcAft>
              <a:defRPr sz="1300">
                <a:solidFill>
                  <a:srgbClr val="E8ECE9"/>
                </a:solidFill>
              </a:defRPr>
            </a:pPr>
            <a:r>
              <a:t>Live broadcast · Editorial amplification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dotonic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419088"/>
            <a:ext cx="23874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ndotonic.com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COMPETITION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E8ECE9"/>
                </a:solidFill>
              </a:defRPr>
            </a:pPr>
            <a:r>
              <a:t>We combine what others split apart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828800"/>
            <a:ext cx="10881360" cy="379476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68680" y="2029968"/>
          <a:ext cx="10469880" cy="3602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691640"/>
                <a:gridCol w="1691640"/>
                <a:gridCol w="2057400"/>
              </a:tblGrid>
              <a:tr h="420624"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E0BC3A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 anchor="ctr" marL="152400" marR="152400" marT="101600" marB="101600">
                    <a:solidFill>
                      <a:srgbClr val="1417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E0BC3A"/>
                          </a:solidFill>
                        </a:defRPr>
                      </a:pPr>
                      <a:r>
                        <a:t>Ndotonic</a:t>
                      </a:r>
                    </a:p>
                  </a:txBody>
                  <a:tcPr anchor="ctr" marL="152400" marR="152400" marT="101600" marB="101600">
                    <a:solidFill>
                      <a:srgbClr val="1417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E0BC3A"/>
                          </a:solidFill>
                        </a:defRPr>
                      </a:pPr>
                      <a:r>
                        <a:t>KDP</a:t>
                      </a:r>
                    </a:p>
                  </a:txBody>
                  <a:tcPr anchor="ctr" marL="152400" marR="152400" marT="101600" marB="101600">
                    <a:solidFill>
                      <a:srgbClr val="1417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E0BC3A"/>
                          </a:solidFill>
                        </a:defRPr>
                      </a:pPr>
                      <a:r>
                        <a:t>Kickstarter</a:t>
                      </a:r>
                    </a:p>
                  </a:txBody>
                  <a:tcPr anchor="ctr" marL="152400" marR="152400" marT="101600" marB="101600">
                    <a:solidFill>
                      <a:srgbClr val="1417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E0BC3A"/>
                          </a:solidFill>
                        </a:defRPr>
                      </a:pPr>
                      <a:r>
                        <a:t>Storyrocket</a:t>
                      </a:r>
                    </a:p>
                  </a:txBody>
                  <a:tcPr anchor="ctr" marL="152400" marR="152400" marT="101600" marB="101600">
                    <a:solidFill>
                      <a:srgbClr val="14171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E8ECE9"/>
                          </a:solidFill>
                        </a:defRPr>
                      </a:pPr>
                      <a:r>
                        <a:t>Patron campaigns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E0BC3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 marL="152400" marR="152400" marT="101600" marB="101600">
                    <a:solidFill>
                      <a:srgbClr val="1816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E0BC3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E0BC3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E8ECE9"/>
                          </a:solidFill>
                        </a:defRPr>
                      </a:pPr>
                      <a:r>
                        <a:t>Writing studio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E0BC3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 marL="152400" marR="152400" marT="101600" marB="101600">
                    <a:solidFill>
                      <a:srgbClr val="1816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E8ECE9"/>
                          </a:solidFill>
                        </a:defRPr>
                      </a:pPr>
                      <a:r>
                        <a:t>AI craft editing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E0BC3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 marL="152400" marR="152400" marT="101600" marB="101600">
                    <a:solidFill>
                      <a:srgbClr val="1816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E8ECE9"/>
                          </a:solidFill>
                        </a:defRPr>
                      </a:pPr>
                      <a:r>
                        <a:t>AI audiobook production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E0BC3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 marL="152400" marR="152400" marT="101600" marB="101600">
                    <a:solidFill>
                      <a:srgbClr val="1816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E8ECE9"/>
                          </a:solidFill>
                        </a:defRPr>
                      </a:pPr>
                      <a:r>
                        <a:t>Multi format store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E0BC3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 marL="152400" marR="152400" marT="101600" marB="101600">
                    <a:solidFill>
                      <a:srgbClr val="1816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E0BC3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E8ECE9"/>
                          </a:solidFill>
                        </a:defRPr>
                      </a:pPr>
                      <a:r>
                        <a:t>Radio/TV (GLC Media)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1">
                          <a:solidFill>
                            <a:srgbClr val="E0BC3A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 marL="152400" marR="152400" marT="101600" marB="101600">
                    <a:solidFill>
                      <a:srgbClr val="1816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200" b="0">
                          <a:solidFill>
                            <a:srgbClr val="9AA8A0"/>
                          </a:solidFill>
                        </a:defRPr>
                      </a:pPr>
                      <a:r>
                        <a:t>·</a:t>
                      </a:r>
                    </a:p>
                  </a:txBody>
                  <a:tcPr anchor="ctr" marL="152400" marR="152400" marT="101600" marB="101600">
                    <a:solidFill>
                      <a:srgbClr val="0C0F0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dotonic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419088"/>
            <a:ext cx="23874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ndotonic.com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E8ECE9"/>
                </a:solidFill>
              </a:defRPr>
            </a:pPr>
            <a:r>
              <a:t>Premium independent publishing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17830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9AA8A0"/>
                </a:solidFill>
              </a:defRPr>
            </a:pPr>
            <a:r>
              <a:t>Ndotonic: author platform for audience, AI craft, and funding.</a:t>
            </a:r>
            <a:br/>
            <a:r>
              <a:t>GLC Media: streams and promotes stories and books on radio &amp; TV.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063240"/>
            <a:ext cx="3401568" cy="196596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984248" y="2807208"/>
            <a:ext cx="749808" cy="74980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E0B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566160"/>
            <a:ext cx="34015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E0BC3A"/>
                </a:solidFill>
              </a:defRPr>
            </a:pPr>
            <a:r>
              <a:t>Year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023360"/>
            <a:ext cx="294436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AA8A0"/>
                </a:solidFill>
              </a:defRPr>
            </a:pPr>
            <a:r>
              <a:t>Author acquisition · campaign GMV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59936" y="3931920"/>
            <a:ext cx="338328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98264" y="3063240"/>
            <a:ext cx="3401568" cy="196596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24144" y="2807208"/>
            <a:ext cx="749808" cy="749808"/>
          </a:xfrm>
          <a:prstGeom prst="ellipse">
            <a:avLst/>
          </a:prstGeom>
          <a:solidFill>
            <a:srgbClr val="E0BC3A"/>
          </a:solidFill>
          <a:ln w="19050">
            <a:solidFill>
              <a:srgbClr val="E0B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8264" y="3566160"/>
            <a:ext cx="34015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E0BC3A"/>
                </a:solidFill>
              </a:defRPr>
            </a:pPr>
            <a:r>
              <a:t>Year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6864" y="4023360"/>
            <a:ext cx="294436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AA8A0"/>
                </a:solidFill>
              </a:defRPr>
            </a:pPr>
            <a:r>
              <a:t>GLC Media audience · audio/print scale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99832" y="3931920"/>
            <a:ext cx="338328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38160" y="3063240"/>
            <a:ext cx="3401568" cy="196596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64040" y="2807208"/>
            <a:ext cx="749808" cy="74980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E0B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3566160"/>
            <a:ext cx="34015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E0BC3A"/>
                </a:solidFill>
              </a:defRPr>
            </a:pPr>
            <a:r>
              <a:t>Year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023360"/>
            <a:ext cx="294436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9AA8A0"/>
                </a:solidFill>
              </a:defRPr>
            </a:pPr>
            <a:r>
              <a:t>Rights &amp; adaptation pipeline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dotonic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419088"/>
            <a:ext cx="23874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ndotonic.com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804672"/>
            <a:ext cx="10881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E8ECE9"/>
                </a:solidFill>
              </a:defRPr>
            </a:pPr>
            <a:r>
              <a:t>Founder-led, hiring to scale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1874519"/>
            <a:ext cx="5257800" cy="214884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214884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E0BC3A"/>
                </a:solidFill>
              </a:defRPr>
            </a:pPr>
            <a:r>
              <a:t>Today: solo founder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2697480"/>
            <a:ext cx="4663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8ECE9"/>
                </a:solidFill>
              </a:defRPr>
            </a:pPr>
            <a:r>
              <a:t>Journalist turned builder; shipped ndotonic.com end to end. Bootstrapped AI credits through build and test.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874519"/>
            <a:ext cx="5257800" cy="214884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14884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E0BC3A"/>
                </a:solidFill>
              </a:defRPr>
            </a:pPr>
            <a:r>
              <a:t>Building toward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697480"/>
            <a:ext cx="4663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E8ECE9"/>
                </a:solidFill>
              </a:defRPr>
            </a:pPr>
            <a:r>
              <a:t>Co-founder CTO, AI engineers, QA, security. First-gen immigrant, recent grad. Investment accelerates team and GTM.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343400"/>
            <a:ext cx="10881360" cy="1325880"/>
          </a:xfrm>
          <a:prstGeom prst="roundRect">
            <a:avLst/>
          </a:prstGeom>
          <a:solidFill>
            <a:srgbClr val="10120E"/>
          </a:solidFill>
          <a:ln w="15875">
            <a:solidFill>
              <a:srgbClr val="2A3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57200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0BC3A"/>
                </a:solidFill>
              </a:defRPr>
            </a:pPr>
            <a:r>
              <a:t>Mission: Uncover hidden potential and amplify unheard voices.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98348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AA8A0"/>
                </a:solidFill>
              </a:defRPr>
            </a:pPr>
            <a:r>
              <a:t>GLC Media: radio &amp; TV stream promoting stories and books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4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146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93192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8387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18519" y="0"/>
            <a:ext cx="13716" cy="6858000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0" y="-1280160"/>
            <a:ext cx="4114800" cy="4114800"/>
          </a:xfrm>
          <a:prstGeom prst="ellipse">
            <a:avLst/>
          </a:prstGeom>
          <a:solidFill>
            <a:srgbClr val="14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1645920" y="4754880"/>
            <a:ext cx="2926080" cy="2926080"/>
          </a:xfrm>
          <a:prstGeom prst="ellipse">
            <a:avLst/>
          </a:prstGeom>
          <a:solidFill>
            <a:srgbClr val="18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" y="566928"/>
            <a:ext cx="502920" cy="41148"/>
          </a:xfrm>
          <a:prstGeom prst="rect">
            <a:avLst/>
          </a:prstGeom>
          <a:solidFill>
            <a:srgbClr val="E0B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6355080"/>
            <a:ext cx="10881360" cy="10972"/>
          </a:xfrm>
          <a:prstGeom prst="rect">
            <a:avLst/>
          </a:prstGeom>
          <a:solidFill>
            <a:srgbClr val="2A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dotonic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419088"/>
            <a:ext cx="23874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0" y="64465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AA8A0"/>
                </a:solidFill>
              </a:defRPr>
            </a:pPr>
            <a:r>
              <a:t>ndotonic.com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E0BC3A"/>
                </a:solidFill>
              </a:defRPr>
            </a:pPr>
            <a:r>
              <a:t>12</a:t>
            </a:r>
          </a:p>
        </p:txBody>
      </p:sp>
      <p:sp>
        <p:nvSpPr>
          <p:cNvPr id="18" name="Oval 17"/>
          <p:cNvSpPr/>
          <p:nvPr/>
        </p:nvSpPr>
        <p:spPr>
          <a:xfrm>
            <a:off x="3200400" y="-457200"/>
            <a:ext cx="5943600" cy="5943600"/>
          </a:xfrm>
          <a:prstGeom prst="ellipse">
            <a:avLst/>
          </a:prstGeom>
          <a:solidFill>
            <a:srgbClr val="221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ndotonic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1507" y="411480"/>
            <a:ext cx="810016" cy="8686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8368" y="47548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9A227"/>
                </a:solidFill>
              </a:defRPr>
            </a:pPr>
            <a:r>
              <a:t>THE 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4173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>
                <a:solidFill>
                  <a:srgbClr val="E8ECE9"/>
                </a:solidFill>
              </a:defRPr>
            </a:pPr>
            <a:r>
              <a:t>Partner with Ndotonic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2331720"/>
            <a:ext cx="8138160" cy="2331720"/>
          </a:xfrm>
          <a:prstGeom prst="roundRect">
            <a:avLst/>
          </a:prstGeom>
          <a:solidFill>
            <a:srgbClr val="0C0F0E"/>
          </a:solidFill>
          <a:ln w="15875">
            <a:solidFill>
              <a:srgbClr val="E0B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23160" y="2514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8ECE9"/>
                </a:solidFill>
              </a:defRPr>
            </a:pPr>
            <a:r>
              <a:t>◆ Strategic investment: author platform &amp; GLC Media</a:t>
            </a:r>
          </a:p>
          <a:p>
            <a:pPr>
              <a:spcAft>
                <a:spcPts val="1400"/>
              </a:spcAft>
              <a:defRPr sz="1500">
                <a:solidFill>
                  <a:srgbClr val="E8ECE9"/>
                </a:solidFill>
              </a:defRPr>
            </a:pPr>
            <a:r>
              <a:t>◆ Publishing &amp; distribution partnerships</a:t>
            </a:r>
          </a:p>
          <a:p>
            <a:pPr>
              <a:spcAft>
                <a:spcPts val="1400"/>
              </a:spcAft>
              <a:defRPr sz="1500">
                <a:solidFill>
                  <a:srgbClr val="E8ECE9"/>
                </a:solidFill>
              </a:defRPr>
            </a:pPr>
            <a:r>
              <a:t>◆ Broadcast amplification via GLC Media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4709160"/>
            <a:ext cx="5943600" cy="1417320"/>
          </a:xfrm>
          <a:prstGeom prst="roundRect">
            <a:avLst/>
          </a:prstGeom>
          <a:solidFill>
            <a:srgbClr val="181406"/>
          </a:solidFill>
          <a:ln w="19050">
            <a:solidFill>
              <a:srgbClr val="E0BC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480060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E0BC3A"/>
                </a:solidFill>
              </a:defRPr>
            </a:pPr>
            <a:r>
              <a:t>ndotonic.com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5047488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E8ECE9"/>
                </a:solidFill>
              </a:defRPr>
            </a:pPr>
            <a:r>
              <a:t>Email: info@ndotonic.com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5285232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E8ECE9"/>
                </a:solidFill>
              </a:defRPr>
            </a:pPr>
            <a:r>
              <a:t>Phone: 628-270-1430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522976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9AA8A0"/>
                </a:solidFill>
              </a:defRPr>
            </a:pPr>
            <a:r>
              <a:t>Instagram: @ndotonic_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